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1" y="2222624"/>
            <a:ext cx="5917677" cy="2554758"/>
          </a:xfrm>
        </p:spPr>
        <p:txBody>
          <a:bodyPr anchor="b"/>
          <a:lstStyle>
            <a:lvl1pPr>
              <a:defRPr sz="48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866441" y="4777380"/>
            <a:ext cx="5917677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7419" y="1824010"/>
            <a:ext cx="990599" cy="240258"/>
          </a:xfrm>
        </p:spPr>
        <p:txBody>
          <a:bodyPr/>
          <a:lstStyle>
            <a:lvl1pPr algn="l">
              <a:defRPr sz="900" b="0" i="0"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46568" y="3264407"/>
            <a:ext cx="3859795" cy="228659"/>
          </a:xfrm>
        </p:spPr>
        <p:txBody>
          <a:bodyPr/>
          <a:lstStyle>
            <a:lvl1pPr>
              <a:defRPr sz="900" b="0" i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323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504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66443" y="2257588"/>
            <a:ext cx="3101763" cy="3020343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r>
              <a:rPr lang="en-US" dirty="0"/>
              <a:t>third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267"/>
            <a:ext cx="3054653" cy="3020345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745644" y="39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666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199"/>
            <a:ext cx="3636979" cy="353060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2489199"/>
            <a:ext cx="3636981" cy="355324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960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3636979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1" y="3248040"/>
            <a:ext cx="3636978" cy="277176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0" y="2488750"/>
            <a:ext cx="3636980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8040"/>
            <a:ext cx="3636980" cy="277390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414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177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-1404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866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8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52881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3086845"/>
            <a:ext cx="2712590" cy="2938036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745644" y="-1404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305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21" name="Rectangle 20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Oval 25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8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7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1591" y="1343112"/>
            <a:ext cx="3001938" cy="1613085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51592" y="3086100"/>
            <a:ext cx="3001938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-1404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036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Rectangle 14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961453"/>
            <a:ext cx="6422002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3" y="5528191"/>
            <a:ext cx="6422003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7745644" y="-7177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12364" y="295730"/>
            <a:ext cx="738909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188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17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13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7101"/>
            <a:ext cx="6422004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3"/>
          <p:cNvSpPr>
            <a:spLocks noGrp="1"/>
          </p:cNvSpPr>
          <p:nvPr>
            <p:ph type="body" sz="half" idx="13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745644" y="-7177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12364" y="295730"/>
            <a:ext cx="738909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04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12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3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11" name="TextBox 10"/>
          <p:cNvSpPr txBox="1"/>
          <p:nvPr/>
        </p:nvSpPr>
        <p:spPr bwMode="gray">
          <a:xfrm>
            <a:off x="7033421" y="2893960"/>
            <a:ext cx="6792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”</a:t>
            </a:r>
          </a:p>
        </p:txBody>
      </p:sp>
      <p:sp>
        <p:nvSpPr>
          <p:cNvPr id="10" name="TextBox 9"/>
          <p:cNvSpPr txBox="1"/>
          <p:nvPr/>
        </p:nvSpPr>
        <p:spPr bwMode="gray">
          <a:xfrm>
            <a:off x="625840" y="590998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0763" y="914400"/>
            <a:ext cx="6177681" cy="28846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9" y="3809278"/>
            <a:ext cx="5646142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78870" y="5000815"/>
            <a:ext cx="6422005" cy="101817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7745644" y="-7177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12364" y="295730"/>
            <a:ext cx="738909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1436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057400"/>
            <a:ext cx="6422004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159399"/>
            <a:ext cx="6422004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4507" y="39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12364" y="295730"/>
            <a:ext cx="738909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0925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4852" y="921453"/>
            <a:ext cx="6423592" cy="715512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1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2"/>
            <a:ext cx="2313431" cy="2877717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8471" y="2485332"/>
            <a:ext cx="232675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2"/>
            <a:ext cx="2326750" cy="2888367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0" y="2489200"/>
            <a:ext cx="231374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3820" y="3147162"/>
            <a:ext cx="2313740" cy="2877717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87101" y="2489200"/>
            <a:ext cx="0" cy="3535679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622" y="2489200"/>
            <a:ext cx="0" cy="3535679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712364" y="295730"/>
            <a:ext cx="738909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2609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7101"/>
            <a:ext cx="6423592" cy="70986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390" y="4179595"/>
            <a:ext cx="2295329" cy="657961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21261" y="2489200"/>
            <a:ext cx="2012937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48208"/>
            <a:ext cx="2309279" cy="1176672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30434" y="4179594"/>
            <a:ext cx="2291674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16"/>
          </p:nvPr>
        </p:nvSpPr>
        <p:spPr>
          <a:xfrm>
            <a:off x="3550622" y="2486834"/>
            <a:ext cx="2025182" cy="144970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04318" y="4848209"/>
            <a:ext cx="2317790" cy="1188374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0" y="4166523"/>
            <a:ext cx="2304671" cy="681684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17"/>
          </p:nvPr>
        </p:nvSpPr>
        <p:spPr>
          <a:xfrm>
            <a:off x="6104946" y="2489200"/>
            <a:ext cx="2018838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63820" y="4848209"/>
            <a:ext cx="2304671" cy="1189427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441" y="2489200"/>
            <a:ext cx="0" cy="3535679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622" y="2489200"/>
            <a:ext cx="0" cy="3548436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712364" y="295730"/>
            <a:ext cx="738909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4865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864852" y="921453"/>
            <a:ext cx="6423592" cy="715512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12364" y="295730"/>
            <a:ext cx="738909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4588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414867" y="402165"/>
              <a:ext cx="46105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7"/>
            <p:cNvSpPr/>
            <p:nvPr/>
          </p:nvSpPr>
          <p:spPr bwMode="gray">
            <a:xfrm rot="5400000">
              <a:off x="1299309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68970" y="1447799"/>
            <a:ext cx="1119474" cy="4571999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440" y="1447799"/>
            <a:ext cx="4417234" cy="4572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744507" y="39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12364" y="295730"/>
            <a:ext cx="738909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852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19" name="Rectangle 18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6" name="Freeform 25"/>
            <p:cNvSpPr/>
            <p:nvPr/>
          </p:nvSpPr>
          <p:spPr bwMode="gray">
            <a:xfrm>
              <a:off x="485023" y="1856958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7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1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2489201"/>
            <a:ext cx="6345260" cy="3530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60111" y="6377097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2" y="6373195"/>
            <a:ext cx="3859795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3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899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Big Data for Healthcare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• Course: Big Data Technologies and Applications</a:t>
            </a:r>
          </a:p>
          <a:p>
            <a:pPr>
              <a:defRPr sz="2000"/>
            </a:pPr>
            <a:r>
              <a:t>• Author: Jamal Mohammad</a:t>
            </a:r>
          </a:p>
          <a:p>
            <a:pPr>
              <a:defRPr sz="2000"/>
            </a:pPr>
            <a:r>
              <a:t>• Student ID: 24001883</a:t>
            </a:r>
          </a:p>
          <a:p>
            <a:pPr>
              <a:defRPr sz="2000"/>
            </a:pPr>
            <a:r>
              <a:t>• Instructor: Dr. [Instructor Name]</a:t>
            </a:r>
          </a:p>
          <a:p>
            <a:pPr>
              <a:defRPr sz="2000"/>
            </a:pPr>
            <a:r>
              <a:t>• Submission Date: 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• Big Data revolutionizing healthcare analytics</a:t>
            </a:r>
          </a:p>
          <a:p>
            <a:pPr>
              <a:defRPr sz="2000"/>
            </a:pPr>
            <a:r>
              <a:t>• Focus on large-scale patient data analysis</a:t>
            </a:r>
          </a:p>
          <a:p>
            <a:pPr>
              <a:defRPr sz="2000"/>
            </a:pPr>
            <a:r>
              <a:t>• Use of distributed processing (Apache Spark)</a:t>
            </a:r>
          </a:p>
          <a:p>
            <a:pPr>
              <a:defRPr sz="2000"/>
            </a:pPr>
            <a:r>
              <a:t>• Goal: uncover trends and cost insights</a:t>
            </a:r>
          </a:p>
          <a:p>
            <a:pPr>
              <a:defRPr sz="2000"/>
            </a:pPr>
            <a:r>
              <a:t>• Data-driven decision support for hospitals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• Design a scalable healthcare analytics pipeline</a:t>
            </a:r>
          </a:p>
          <a:p>
            <a:pPr>
              <a:defRPr sz="2000"/>
            </a:pPr>
            <a:r>
              <a:t>• Analyze patient demographics and billing trends</a:t>
            </a:r>
          </a:p>
          <a:p>
            <a:pPr>
              <a:defRPr sz="2000"/>
            </a:pPr>
            <a:r>
              <a:t>• Measure correlations between variables</a:t>
            </a:r>
          </a:p>
          <a:p>
            <a:pPr>
              <a:defRPr sz="2000"/>
            </a:pPr>
            <a:r>
              <a:t>• Visualize results using Python libraries</a:t>
            </a:r>
          </a:p>
          <a:p>
            <a:pPr>
              <a:defRPr sz="2000"/>
            </a:pPr>
            <a:r>
              <a:t>• Deliver actionable healthcare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• 55,500 patient admission records</a:t>
            </a:r>
          </a:p>
          <a:p>
            <a:pPr>
              <a:defRPr sz="2000"/>
            </a:pPr>
            <a:r>
              <a:t>• 14 attributes including Age, Gender, Condition, Billing</a:t>
            </a:r>
          </a:p>
          <a:p>
            <a:pPr>
              <a:defRPr sz="2000"/>
            </a:pPr>
            <a:r>
              <a:t>• Covers demographics, clinical, and financial data</a:t>
            </a:r>
          </a:p>
          <a:p>
            <a:pPr>
              <a:defRPr sz="2000"/>
            </a:pPr>
            <a:r>
              <a:t>• Derived field: Stay_Days from admission/discharge dates</a:t>
            </a:r>
          </a:p>
          <a:p>
            <a:pPr>
              <a:defRPr sz="2000"/>
            </a:pPr>
            <a:r>
              <a:t>• Validated and cleaned for consistency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Tools and Frameworks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• Apache Spark (PySpark) for distributed processing</a:t>
            </a:r>
          </a:p>
          <a:p>
            <a:pPr>
              <a:defRPr sz="2000"/>
            </a:pPr>
            <a:r>
              <a:t>• Google Colab as execution environment</a:t>
            </a:r>
          </a:p>
          <a:p>
            <a:pPr>
              <a:defRPr sz="2000"/>
            </a:pPr>
            <a:r>
              <a:t>• Pandas for small-scale data manipulation</a:t>
            </a:r>
          </a:p>
          <a:p>
            <a:pPr>
              <a:defRPr sz="2000"/>
            </a:pPr>
            <a:r>
              <a:t>• Seaborn &amp; Matplotlib for visualizations</a:t>
            </a:r>
          </a:p>
          <a:p>
            <a:pPr>
              <a:defRPr sz="2000"/>
            </a:pPr>
            <a:r>
              <a:t>• Python 3.x for coding and automation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• Converted date columns to valid formats</a:t>
            </a:r>
          </a:p>
          <a:p>
            <a:pPr>
              <a:defRPr sz="2000"/>
            </a:pPr>
            <a:r>
              <a:t>• Removed negative billing values</a:t>
            </a:r>
          </a:p>
          <a:p>
            <a:pPr>
              <a:defRPr sz="2000"/>
            </a:pPr>
            <a:r>
              <a:t>• Handled missing/null values efficiently</a:t>
            </a:r>
          </a:p>
          <a:p>
            <a:pPr>
              <a:defRPr sz="2000"/>
            </a:pPr>
            <a:r>
              <a:t>• Derived new metric: Stay_Days</a:t>
            </a:r>
          </a:p>
          <a:p>
            <a:pPr>
              <a:defRPr sz="2000"/>
            </a:pPr>
            <a:r>
              <a:t>• Ensured schema integrity across records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• Step 1: Data ingestion into Spark DataFrame</a:t>
            </a:r>
          </a:p>
          <a:p>
            <a:pPr>
              <a:defRPr sz="2000"/>
            </a:pPr>
            <a:r>
              <a:t>• Step 2: Cleaning and transformation</a:t>
            </a:r>
          </a:p>
          <a:p>
            <a:pPr>
              <a:defRPr sz="2000"/>
            </a:pPr>
            <a:r>
              <a:t>• Step 3: Aggregation and statistical summary</a:t>
            </a:r>
          </a:p>
          <a:p>
            <a:pPr>
              <a:defRPr sz="2000"/>
            </a:pPr>
            <a:r>
              <a:t>• Step 4: Correlation and trend analysis</a:t>
            </a:r>
          </a:p>
          <a:p>
            <a:pPr>
              <a:defRPr sz="2000"/>
            </a:pPr>
            <a:r>
              <a:t>• Step 5: Visualization and interpretation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Analytical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• Descriptive analytics for average billing</a:t>
            </a:r>
          </a:p>
          <a:p>
            <a:pPr>
              <a:defRPr sz="2000"/>
            </a:pPr>
            <a:r>
              <a:t>• Grouped insights by medical condition</a:t>
            </a:r>
          </a:p>
          <a:p>
            <a:pPr>
              <a:defRPr sz="2000"/>
            </a:pPr>
            <a:r>
              <a:t>• Correlation computed using df.stat.corr()</a:t>
            </a:r>
          </a:p>
          <a:p>
            <a:pPr>
              <a:defRPr sz="2000"/>
            </a:pPr>
            <a:r>
              <a:t>• Visualization via Seaborn and Matplotlib</a:t>
            </a:r>
          </a:p>
          <a:p>
            <a:pPr>
              <a:defRPr sz="2000"/>
            </a:pPr>
            <a:r>
              <a:t>• Focus on cost, admission, and test patterns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Key 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• Average Billing by Medical Condition</a:t>
            </a:r>
          </a:p>
          <a:p>
            <a:pPr>
              <a:defRPr sz="2000"/>
            </a:pPr>
            <a:r>
              <a:t>• Average Age by Condition</a:t>
            </a:r>
          </a:p>
          <a:p>
            <a:pPr>
              <a:defRPr sz="2000"/>
            </a:pPr>
            <a:r>
              <a:t>• Admission Type Frequency</a:t>
            </a:r>
          </a:p>
          <a:p>
            <a:pPr>
              <a:defRPr sz="2000"/>
            </a:pPr>
            <a:r>
              <a:t>• Test Result Distribution</a:t>
            </a:r>
          </a:p>
          <a:p>
            <a:pPr>
              <a:defRPr sz="2000"/>
            </a:pPr>
            <a:r>
              <a:t>• Age vs Billing Scatter Plot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Results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• Uniform billing pattern across conditions</a:t>
            </a:r>
          </a:p>
          <a:p>
            <a:pPr>
              <a:defRPr sz="2000"/>
            </a:pPr>
            <a:r>
              <a:t>• Higher cost for chronic diseases (Obesity, Diabetes)</a:t>
            </a:r>
          </a:p>
          <a:p>
            <a:pPr>
              <a:defRPr sz="2000"/>
            </a:pPr>
            <a:r>
              <a:t>• Average age ≈ 51 years across dataset</a:t>
            </a:r>
          </a:p>
          <a:p>
            <a:pPr>
              <a:defRPr sz="2000"/>
            </a:pPr>
            <a:r>
              <a:t>• Balanced admission types (Elective, Urgent, Emergency)</a:t>
            </a:r>
          </a:p>
          <a:p>
            <a:pPr>
              <a:defRPr sz="2000"/>
            </a:pPr>
            <a:r>
              <a:t>• Equal distribution in test results (~33% each)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Statistical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• Correlation (Age ↔ Billing): −0.004 (very weak)</a:t>
            </a:r>
          </a:p>
          <a:p>
            <a:pPr>
              <a:defRPr sz="2000"/>
            </a:pPr>
            <a:r>
              <a:t>• Correlation (Stay ↔ Billing): −0.006 (negligible)</a:t>
            </a:r>
          </a:p>
          <a:p>
            <a:pPr>
              <a:defRPr sz="2000"/>
            </a:pPr>
            <a:r>
              <a:t>• Billing independent of age and stay duration</a:t>
            </a:r>
          </a:p>
          <a:p>
            <a:pPr>
              <a:defRPr sz="2000"/>
            </a:pPr>
            <a:r>
              <a:t>• Spark processed 55k+ records in seconds</a:t>
            </a:r>
          </a:p>
          <a:p>
            <a:pPr>
              <a:defRPr sz="2000"/>
            </a:pPr>
            <a:r>
              <a:t>• Demonstrates efficiency of distributed computing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• Chronic conditions drive majority of billing</a:t>
            </a:r>
          </a:p>
          <a:p>
            <a:pPr>
              <a:defRPr sz="2000"/>
            </a:pPr>
            <a:r>
              <a:t>• Standardized cost structure across hospitals</a:t>
            </a:r>
          </a:p>
          <a:p>
            <a:pPr>
              <a:defRPr sz="2000"/>
            </a:pPr>
            <a:r>
              <a:t>• Age not a strong billing determinant</a:t>
            </a:r>
          </a:p>
          <a:p>
            <a:pPr>
              <a:defRPr sz="2000"/>
            </a:pPr>
            <a:r>
              <a:t>• Balanced operations reflect robust systems</a:t>
            </a:r>
          </a:p>
          <a:p>
            <a:pPr>
              <a:defRPr sz="2000"/>
            </a:pPr>
            <a:r>
              <a:t>• Need for preventive healthcare investment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• Spark enables scalable healthcare analytics</a:t>
            </a:r>
          </a:p>
          <a:p>
            <a:pPr>
              <a:defRPr sz="2000"/>
            </a:pPr>
            <a:r>
              <a:t>• Visualization enhances interpretability</a:t>
            </a:r>
          </a:p>
          <a:p>
            <a:pPr>
              <a:defRPr sz="2000"/>
            </a:pPr>
            <a:r>
              <a:t>• Uniform data indicates system efficiency</a:t>
            </a:r>
          </a:p>
          <a:p>
            <a:pPr>
              <a:defRPr sz="2000"/>
            </a:pPr>
            <a:r>
              <a:t>• Analytical results align with healthcare trends</a:t>
            </a:r>
          </a:p>
          <a:p>
            <a:pPr>
              <a:defRPr sz="2000"/>
            </a:pPr>
            <a:r>
              <a:t>• Big Data improves decision-making capacity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• Integrate machine learning for prediction</a:t>
            </a:r>
          </a:p>
          <a:p>
            <a:pPr>
              <a:defRPr sz="2000"/>
            </a:pPr>
            <a:r>
              <a:t>• Add streaming analytics for real-time insights</a:t>
            </a:r>
          </a:p>
          <a:p>
            <a:pPr>
              <a:defRPr sz="2000"/>
            </a:pPr>
            <a:r>
              <a:t>• Link with insurance and regional datasets</a:t>
            </a:r>
          </a:p>
          <a:p>
            <a:pPr>
              <a:defRPr sz="2000"/>
            </a:pPr>
            <a:r>
              <a:t>• Enhance model with Explainable AI (XAI)</a:t>
            </a:r>
          </a:p>
          <a:p>
            <a:pPr>
              <a:defRPr sz="2000"/>
            </a:pPr>
            <a:r>
              <a:t>• Implement dashboards for administrators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Thank You /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• Presented by: Jamal Mohammad</a:t>
            </a:r>
          </a:p>
          <a:p>
            <a:pPr>
              <a:defRPr sz="2000"/>
            </a:pPr>
            <a:r>
              <a:t>• Student ID: 24001883</a:t>
            </a:r>
          </a:p>
          <a:p>
            <a:pPr>
              <a:defRPr sz="2000"/>
            </a:pPr>
            <a:r>
              <a:t>• Big Data for Healthcare Analytics</a:t>
            </a:r>
          </a:p>
          <a:p>
            <a:pPr>
              <a:defRPr sz="2000"/>
            </a:pPr>
            <a:r>
              <a:t>• Course: Big Data Technologies and Applications</a:t>
            </a:r>
          </a:p>
          <a:p>
            <a:pPr>
              <a:defRPr sz="2000"/>
            </a:pPr>
            <a:r>
              <a:t>• Thank you for your attention!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EC7F02AD-9687-440F-A9DF-FAA6F22270D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10</TotalTime>
  <Words>568</Words>
  <Application>Microsoft Office PowerPoint</Application>
  <PresentationFormat>On-screen Show (4:3)</PresentationFormat>
  <Paragraphs>105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Century Gothic</vt:lpstr>
      <vt:lpstr>Wingdings 3</vt:lpstr>
      <vt:lpstr>Ion Boardroom</vt:lpstr>
      <vt:lpstr>Big Data for Healthcare Analytics</vt:lpstr>
      <vt:lpstr>Introduction</vt:lpstr>
      <vt:lpstr>Project Objectives</vt:lpstr>
      <vt:lpstr>Dataset Overview</vt:lpstr>
      <vt:lpstr>Tools and Frameworks</vt:lpstr>
      <vt:lpstr>Data Preprocessing</vt:lpstr>
      <vt:lpstr>Methodology</vt:lpstr>
      <vt:lpstr>Analytical Approach</vt:lpstr>
      <vt:lpstr>Key Visualizations</vt:lpstr>
      <vt:lpstr>Results Summary</vt:lpstr>
      <vt:lpstr>Statistical Insights</vt:lpstr>
      <vt:lpstr>Discussion</vt:lpstr>
      <vt:lpstr>Conclusion</vt:lpstr>
      <vt:lpstr>Future Work</vt:lpstr>
      <vt:lpstr>Thank You / 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Kiran</dc:creator>
  <cp:keywords/>
  <dc:description>generated using python-pptx</dc:description>
  <cp:lastModifiedBy>Laptop House</cp:lastModifiedBy>
  <cp:revision>3</cp:revision>
  <dcterms:created xsi:type="dcterms:W3CDTF">2013-01-27T09:14:16Z</dcterms:created>
  <dcterms:modified xsi:type="dcterms:W3CDTF">2025-11-03T20:33:28Z</dcterms:modified>
  <cp:category/>
</cp:coreProperties>
</file>